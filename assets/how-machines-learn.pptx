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2f6c8f52de4cff" /><Relationship Type="http://schemas.openxmlformats.org/officeDocument/2006/relationships/extended-properties" Target="/docProps/app.xml" Id="R6a302dcb7c8d464a" /><Relationship Type="http://schemas.openxmlformats.org/officeDocument/2006/relationships/officeDocument" Target="/ppt/presentation.xml" Id="R251a3afa49a349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431aa9b4ce4a71"/>
  </p:sldMasterIdLst>
  <p:notesMasterIdLst>
    <p:notesMasterId xmlns:r="http://schemas.openxmlformats.org/officeDocument/2006/relationships" r:id="Rd76ec99668d84cc8"/>
  </p:notesMasterIdLst>
  <p:sldIdLst>
    <p:sldId xmlns:r="http://schemas.openxmlformats.org/officeDocument/2006/relationships" id="256" r:id="R6d04c974ef3841ab"/>
    <p:sldId xmlns:r="http://schemas.openxmlformats.org/officeDocument/2006/relationships" id="257" r:id="Rea8b4317456d4513"/>
    <p:sldId xmlns:r="http://schemas.openxmlformats.org/officeDocument/2006/relationships" id="258" r:id="R8b504ca2e258471a"/>
    <p:sldId xmlns:r="http://schemas.openxmlformats.org/officeDocument/2006/relationships" id="259" r:id="R5eb257c4a7d04b2a"/>
    <p:sldId xmlns:r="http://schemas.openxmlformats.org/officeDocument/2006/relationships" id="260" r:id="Rac4f1004be754b7c"/>
    <p:sldId xmlns:r="http://schemas.openxmlformats.org/officeDocument/2006/relationships" id="261" r:id="R8872634c4e7740f8"/>
    <p:sldId xmlns:r="http://schemas.openxmlformats.org/officeDocument/2006/relationships" id="262" r:id="R76342d44fd334206"/>
    <p:sldId xmlns:r="http://schemas.openxmlformats.org/officeDocument/2006/relationships" id="263" r:id="R4f8a138e30ea433c"/>
    <p:sldId xmlns:r="http://schemas.openxmlformats.org/officeDocument/2006/relationships" id="264" r:id="R46da4bb86f474281"/>
    <p:sldId xmlns:r="http://schemas.openxmlformats.org/officeDocument/2006/relationships" id="265" r:id="R6291bb55aa0f48f4"/>
    <p:sldId xmlns:r="http://schemas.openxmlformats.org/officeDocument/2006/relationships" id="266" r:id="R98dec9ce218349c6"/>
    <p:sldId xmlns:r="http://schemas.openxmlformats.org/officeDocument/2006/relationships" id="267" r:id="R0608f2c686f247de"/>
    <p:sldId xmlns:r="http://schemas.openxmlformats.org/officeDocument/2006/relationships" id="268" r:id="Rbe30c7bfa97d4d33"/>
    <p:sldId xmlns:r="http://schemas.openxmlformats.org/officeDocument/2006/relationships" id="269" r:id="R7b3936f6c9f34744"/>
    <p:sldId xmlns:r="http://schemas.openxmlformats.org/officeDocument/2006/relationships" id="270" r:id="R2cc2a2f590314a6f"/>
    <p:sldId xmlns:r="http://schemas.openxmlformats.org/officeDocument/2006/relationships" id="271" r:id="R59773a7fdffd498f"/>
    <p:sldId xmlns:r="http://schemas.openxmlformats.org/officeDocument/2006/relationships" id="272" r:id="Rd98fe101b2fe4201"/>
    <p:sldId xmlns:r="http://schemas.openxmlformats.org/officeDocument/2006/relationships" id="273" r:id="Rab31c290a8814111"/>
    <p:sldId xmlns:r="http://schemas.openxmlformats.org/officeDocument/2006/relationships" id="274" r:id="R420950c7ab334198"/>
    <p:sldId xmlns:r="http://schemas.openxmlformats.org/officeDocument/2006/relationships" id="275" r:id="Rc73bc22a726b4b97"/>
    <p:sldId xmlns:r="http://schemas.openxmlformats.org/officeDocument/2006/relationships" id="276" r:id="R3492e8f242bb4570"/>
    <p:sldId xmlns:r="http://schemas.openxmlformats.org/officeDocument/2006/relationships" id="277" r:id="Rf8da93aa9fa54987"/>
    <p:sldId xmlns:r="http://schemas.openxmlformats.org/officeDocument/2006/relationships" id="278" r:id="Rd7d962f076de4b0d"/>
    <p:sldId xmlns:r="http://schemas.openxmlformats.org/officeDocument/2006/relationships" id="279" r:id="R4347b48961e14490"/>
    <p:sldId xmlns:r="http://schemas.openxmlformats.org/officeDocument/2006/relationships" id="280" r:id="R564bdf5fee164251"/>
    <p:sldId xmlns:r="http://schemas.openxmlformats.org/officeDocument/2006/relationships" id="281" r:id="Raefb3925ef4e4cfe"/>
    <p:sldId xmlns:r="http://schemas.openxmlformats.org/officeDocument/2006/relationships" id="282" r:id="R087090a8383c420c"/>
    <p:sldId xmlns:r="http://schemas.openxmlformats.org/officeDocument/2006/relationships" id="283" r:id="R3b6ec28e3dee49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ae575089b14ef9" /><Relationship Type="http://schemas.openxmlformats.org/officeDocument/2006/relationships/slideMaster" Target="/ppt/slideMasters/slideMaster1.xml" Id="Rc5431aa9b4ce4a71" /><Relationship Type="http://schemas.openxmlformats.org/officeDocument/2006/relationships/notesMaster" Target="/ppt/notesMasters/notesMaster1.xml" Id="Rd76ec99668d84cc8" /><Relationship Type="http://schemas.openxmlformats.org/officeDocument/2006/relationships/presProps" Target="/ppt/presProps.xml" Id="Rf223839df36b4470" /><Relationship Type="http://schemas.openxmlformats.org/officeDocument/2006/relationships/tableStyles" Target="/ppt/tableStyles.xml" Id="R9b4ee5f4e8354951" /><Relationship Type="http://schemas.openxmlformats.org/officeDocument/2006/relationships/slide" Target="/ppt/slides/slide1.xml" Id="R6d04c974ef3841ab" /><Relationship Type="http://schemas.openxmlformats.org/officeDocument/2006/relationships/slide" Target="/ppt/slides/slide2.xml" Id="Rea8b4317456d4513" /><Relationship Type="http://schemas.openxmlformats.org/officeDocument/2006/relationships/slide" Target="/ppt/slides/slide3.xml" Id="R8b504ca2e258471a" /><Relationship Type="http://schemas.openxmlformats.org/officeDocument/2006/relationships/slide" Target="/ppt/slides/slide4.xml" Id="R5eb257c4a7d04b2a" /><Relationship Type="http://schemas.openxmlformats.org/officeDocument/2006/relationships/slide" Target="/ppt/slides/slide5.xml" Id="Rac4f1004be754b7c" /><Relationship Type="http://schemas.openxmlformats.org/officeDocument/2006/relationships/slide" Target="/ppt/slides/slide6.xml" Id="R8872634c4e7740f8" /><Relationship Type="http://schemas.openxmlformats.org/officeDocument/2006/relationships/slide" Target="/ppt/slides/slide7.xml" Id="R76342d44fd334206" /><Relationship Type="http://schemas.openxmlformats.org/officeDocument/2006/relationships/slide" Target="/ppt/slides/slide8.xml" Id="R4f8a138e30ea433c" /><Relationship Type="http://schemas.openxmlformats.org/officeDocument/2006/relationships/slide" Target="/ppt/slides/slide9.xml" Id="R46da4bb86f474281" /><Relationship Type="http://schemas.openxmlformats.org/officeDocument/2006/relationships/slide" Target="/ppt/slides/slide10.xml" Id="R6291bb55aa0f48f4" /><Relationship Type="http://schemas.openxmlformats.org/officeDocument/2006/relationships/slide" Target="/ppt/slides/slide11.xml" Id="R98dec9ce218349c6" /><Relationship Type="http://schemas.openxmlformats.org/officeDocument/2006/relationships/slide" Target="/ppt/slides/slide12.xml" Id="R0608f2c686f247de" /><Relationship Type="http://schemas.openxmlformats.org/officeDocument/2006/relationships/slide" Target="/ppt/slides/slide13.xml" Id="Rbe30c7bfa97d4d33" /><Relationship Type="http://schemas.openxmlformats.org/officeDocument/2006/relationships/slide" Target="/ppt/slides/slide14.xml" Id="R7b3936f6c9f34744" /><Relationship Type="http://schemas.openxmlformats.org/officeDocument/2006/relationships/slide" Target="/ppt/slides/slide15.xml" Id="R2cc2a2f590314a6f" /><Relationship Type="http://schemas.openxmlformats.org/officeDocument/2006/relationships/slide" Target="/ppt/slides/slide16.xml" Id="R59773a7fdffd498f" /><Relationship Type="http://schemas.openxmlformats.org/officeDocument/2006/relationships/slide" Target="/ppt/slides/slide17.xml" Id="Rd98fe101b2fe4201" /><Relationship Type="http://schemas.openxmlformats.org/officeDocument/2006/relationships/slide" Target="/ppt/slides/slide18.xml" Id="Rab31c290a8814111" /><Relationship Type="http://schemas.openxmlformats.org/officeDocument/2006/relationships/slide" Target="/ppt/slides/slide19.xml" Id="R420950c7ab334198" /><Relationship Type="http://schemas.openxmlformats.org/officeDocument/2006/relationships/slide" Target="/ppt/slides/slide20.xml" Id="Rc73bc22a726b4b97" /><Relationship Type="http://schemas.openxmlformats.org/officeDocument/2006/relationships/slide" Target="/ppt/slides/slide21.xml" Id="R3492e8f242bb4570" /><Relationship Type="http://schemas.openxmlformats.org/officeDocument/2006/relationships/slide" Target="/ppt/slides/slide22.xml" Id="Rf8da93aa9fa54987" /><Relationship Type="http://schemas.openxmlformats.org/officeDocument/2006/relationships/slide" Target="/ppt/slides/slide23.xml" Id="Rd7d962f076de4b0d" /><Relationship Type="http://schemas.openxmlformats.org/officeDocument/2006/relationships/slide" Target="/ppt/slides/slide24.xml" Id="R4347b48961e14490" /><Relationship Type="http://schemas.openxmlformats.org/officeDocument/2006/relationships/slide" Target="/ppt/slides/slide25.xml" Id="R564bdf5fee164251" /><Relationship Type="http://schemas.openxmlformats.org/officeDocument/2006/relationships/slide" Target="/ppt/slides/slide26.xml" Id="Raefb3925ef4e4cfe" /><Relationship Type="http://schemas.openxmlformats.org/officeDocument/2006/relationships/slide" Target="/ppt/slides/slide27.xml" Id="R087090a8383c420c" /><Relationship Type="http://schemas.openxmlformats.org/officeDocument/2006/relationships/slide" Target="/ppt/slides/slide28.xml" Id="R3b6ec28e3dee49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3080e5648d46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1f221b81774449" /><Relationship Type="http://schemas.openxmlformats.org/officeDocument/2006/relationships/notesMaster" Target="/ppt/notesMasters/notesMaster1.xml" Id="R7af1dbc8fa2f41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a7db0b56324471" /><Relationship Type="http://schemas.openxmlformats.org/officeDocument/2006/relationships/notesMaster" Target="/ppt/notesMasters/notesMaster1.xml" Id="R8a7e7e83a04a4a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19653e19fe46b6" /><Relationship Type="http://schemas.openxmlformats.org/officeDocument/2006/relationships/notesMaster" Target="/ppt/notesMasters/notesMaster1.xml" Id="R0ee70f9194114f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18690466874507" /><Relationship Type="http://schemas.openxmlformats.org/officeDocument/2006/relationships/notesMaster" Target="/ppt/notesMasters/notesMaster1.xml" Id="R5f7b28b1e80340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db714a38f24a8d" /><Relationship Type="http://schemas.openxmlformats.org/officeDocument/2006/relationships/notesMaster" Target="/ppt/notesMasters/notesMaster1.xml" Id="R49cae0499df34c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0dc3ab85a64ae8" /><Relationship Type="http://schemas.openxmlformats.org/officeDocument/2006/relationships/notesMaster" Target="/ppt/notesMasters/notesMaster1.xml" Id="R2205f15f3e0e42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3973c1f08e4c66" /><Relationship Type="http://schemas.openxmlformats.org/officeDocument/2006/relationships/notesMaster" Target="/ppt/notesMasters/notesMaster1.xml" Id="R5aaa49ab40074e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763ae448f040fc" /><Relationship Type="http://schemas.openxmlformats.org/officeDocument/2006/relationships/notesMaster" Target="/ppt/notesMasters/notesMaster1.xml" Id="Rd1bb64477a954c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cae67a1dc44377" /><Relationship Type="http://schemas.openxmlformats.org/officeDocument/2006/relationships/notesMaster" Target="/ppt/notesMasters/notesMaster1.xml" Id="R797adc7538b849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fb674165c14752" /><Relationship Type="http://schemas.openxmlformats.org/officeDocument/2006/relationships/notesMaster" Target="/ppt/notesMasters/notesMaster1.xml" Id="Rd2405fdfd5be4b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077e34c94245a3" /><Relationship Type="http://schemas.openxmlformats.org/officeDocument/2006/relationships/notesMaster" Target="/ppt/notesMasters/notesMaster1.xml" Id="Rde627045a30c48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236ea7ae444b14" /><Relationship Type="http://schemas.openxmlformats.org/officeDocument/2006/relationships/notesMaster" Target="/ppt/notesMasters/notesMaster1.xml" Id="Rda03e6a386934c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2d303b8fc9495b" /><Relationship Type="http://schemas.openxmlformats.org/officeDocument/2006/relationships/notesMaster" Target="/ppt/notesMasters/notesMaster1.xml" Id="R7d5f23f80d214a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540b74b0814d52" /><Relationship Type="http://schemas.openxmlformats.org/officeDocument/2006/relationships/notesMaster" Target="/ppt/notesMasters/notesMaster1.xml" Id="Rf5482a00b72747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9b9e1f8a824870" /><Relationship Type="http://schemas.openxmlformats.org/officeDocument/2006/relationships/notesMaster" Target="/ppt/notesMasters/notesMaster1.xml" Id="Ree551f52d54541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3730d90ce004199" /><Relationship Type="http://schemas.openxmlformats.org/officeDocument/2006/relationships/notesMaster" Target="/ppt/notesMasters/notesMaster1.xml" Id="R1454c1b34fee42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4d63bf46854226" /><Relationship Type="http://schemas.openxmlformats.org/officeDocument/2006/relationships/notesMaster" Target="/ppt/notesMasters/notesMaster1.xml" Id="R96b2e17aedd54eb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7b3e9fb88184d0a" /><Relationship Type="http://schemas.openxmlformats.org/officeDocument/2006/relationships/notesMaster" Target="/ppt/notesMasters/notesMaster1.xml" Id="Rb69df3f32b8a402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ed81f3ac83499d" /><Relationship Type="http://schemas.openxmlformats.org/officeDocument/2006/relationships/notesMaster" Target="/ppt/notesMasters/notesMaster1.xml" Id="R8b6182828cf44f8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c45cc661acb4d82" /><Relationship Type="http://schemas.openxmlformats.org/officeDocument/2006/relationships/notesMaster" Target="/ppt/notesMasters/notesMaster1.xml" Id="R3ee8007ba7de40f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ef3eb3819cd4655" /><Relationship Type="http://schemas.openxmlformats.org/officeDocument/2006/relationships/notesMaster" Target="/ppt/notesMasters/notesMaster1.xml" Id="R85a4702fc6b84be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a3278c90d634346" /><Relationship Type="http://schemas.openxmlformats.org/officeDocument/2006/relationships/notesMaster" Target="/ppt/notesMasters/notesMaster1.xml" Id="R6c672297cd7a4e1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a7f8df64e834d81" /><Relationship Type="http://schemas.openxmlformats.org/officeDocument/2006/relationships/notesMaster" Target="/ppt/notesMasters/notesMaster1.xml" Id="R0f1f4a76cd2b496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9acde59315a4d5a" /><Relationship Type="http://schemas.openxmlformats.org/officeDocument/2006/relationships/notesMaster" Target="/ppt/notesMasters/notesMaster1.xml" Id="Re106f3e3eced446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bef31a842e045b6" /><Relationship Type="http://schemas.openxmlformats.org/officeDocument/2006/relationships/notesMaster" Target="/ppt/notesMasters/notesMaster1.xml" Id="R533efca76e7246e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ae590920d7f4d29" /><Relationship Type="http://schemas.openxmlformats.org/officeDocument/2006/relationships/notesMaster" Target="/ppt/notesMasters/notesMaster1.xml" Id="Rfd845127f91e447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2ab7aaf59a34374" /><Relationship Type="http://schemas.openxmlformats.org/officeDocument/2006/relationships/notesMaster" Target="/ppt/notesMasters/notesMaster1.xml" Id="Rf1c547aff8ad4c6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5007f7f408b4cd4" /><Relationship Type="http://schemas.openxmlformats.org/officeDocument/2006/relationships/notesMaster" Target="/ppt/notesMasters/notesMaster1.xml" Id="R3935936bfdd345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Welcome. 90 minutes. No coding required. Conference dates: 10–12 November 2026. Assigned session slot awaits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0–10 minutes across slides 1–4. Describe one real experience without identifying patients. Do not invent a turning-point anecdote.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 current marketing work and your learning journey. Your district nutrition experience informs the story. Describe projects as development work, without claiming validated ML or measured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two chat responses. Connect them to the six objectives: relationships, learning approaches, training, interpretation, applications and responsible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Totals 90 minutes. Keep the exercise central. Use the handout for the full objectives and worksheets.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10–25 minutes across slides 5–10. Explain the hierarchy in ordinary language. Source: https://developers.google.com/machine-learning/intro-to-ml/what-is-ml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categories overlap. Modern generative systems may use several training approaches. A prompt usually requests inference from an existing model. Source: https://developers.google.com/machine-learning/intro-to-ml/what-is-ml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Agona Swedru example. Ask which information would be available at the time of prediction. Source: https://developers.google.com/machine-learning/intro-to-ml/supervised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analogy for clustering, not a full technical description. People interpret the resulting groups. Source: https://developers.google.com/machine-learning/intro-to-ml/what-is-ml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what could happen if the reward encouraged winning points at the expense of the intended behaviour. Source: https://developers.google.com/machine-learning/intro-to-ml/what-is-ml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25–40 minutes across slides 11–15. Ask participants to supply one target from their field. Source: https://developers.google.com/machine-learning/intro-to-ml/supervised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shop story to explain all four. The record identifier is not a useful feature here. Source: https://developers.google.com/machine-learning/intro-to-ml/supervised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this as a simplified workflow. Check data quality, compare baselines and choose metrics appropriate to consequences. Source: https://developers.google.com/machine-learning/crash-course/overfitting/dividing-datasets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classroom exercise uses only a training and test set for simplicity. Repeatedly tuning on the test set undermines the independence of the score. Source: https://developers.google.com/machine-learning/crash-course/overfitting/dividing-datasets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Leakage example: use final receipt amount to predict whether a purchase happens. Preprocessing and fitting must respect train/test separation. Source: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40–60 minutes across slides 16–20. No tool or account required. All ten records are invented. Allocate 3 minutes to context, 5 to training, 5 to test predictions and 7 to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one-split decision tree can separate the training labels with a threshold between 3 and 6. Use 4.5. This is a manually worked training example, not a previously arbitrary business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 real algorithm evaluates candidate splits using a criterion. These tiny examples cannot validate a business application. Keep the threshold fixed for the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participants to write G No, H Yes, I Yes, J No using the threshold. Give time before revealing answers. Showing actual outcomes is for checking, not retraining.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 and I correct. Model does not beat the always-No baseline on these test records. Precision and recall for Yes are each 50%. Original fictional exercise calculations. The same perfect training split can still produce poor test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60–75 minutes across slides 21–24. Explain false positives and negatives through customer follow-up effort. Source: https://developers.google.com/machine-learning/crash-course/classification/accuracy-precision-recall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Hypothetical example. Ask who is missing from a dataset and what the labels actually represent. Inspect subgroup performance and consequences. Source: https://developers.google.com/machine-learning/crash-course/fairness/types-of-bias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upload patient or staff records. Removing names alone may not anonymize records. Verify generated facts against original sources. Healthcare use requires appropriate validation and professional oversight.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one example from a participant. The goal is an informed question, not proof that every task needs 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75–90 minutes across slides 25–28. Applications are possibilities, not validated features of the facilitator’s projects. Public health attendance planning is not a clinical prediction. Ask about relevant data and baseline alternatives.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3 minutes. Invite one person to share. Ask whether a fixed rule or ordinary analysis would already solve their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Reserve 5 minutes for questions. Refer to the handout for exercises, answers and reference links. Avoid promising income or immediate career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https://developers.google.com/machine-learning/intro-to-ml/what-is-ml ; https://developers.google.com/machine-learning/crash-course/ ; https://scikit-learn.org/stable/common_pitfalls.html . Optional closing resource slide. Personal background follows supplied facilitator information. All exercise data is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10dc23eba41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b927949d0e4b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b295d6a154a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ecc15ee944a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4d1b89b2c4d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2922a821440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D4CE45-CEBF-44F7-BA53-7252636028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1420EF-18C7-4265-ADA2-E5539F102A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99FBD8-62BE-44F6-A283-EADFE947A9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8E33F5-DD09-4C26-AC80-C410B9C707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4BB3B5-88E5-405E-A325-DECF5FFF81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2A77EA-BAA3-4F88-8918-43459B41E1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9FD9F4-B299-4242-B70C-C1E4F29CB8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85D2FD-218D-4B52-A32B-E67A999FE1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54D3F5-D018-46AB-B1B5-B11DC104D3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2E9438-B21B-4CCF-BA91-3609FBDDBD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3e73f1730e4852" /><Relationship Type="http://schemas.openxmlformats.org/officeDocument/2006/relationships/slideLayout" Target="/ppt/slideLayouts/slideLayout1.xml" Id="R167923645a304ea5" /><Relationship Type="http://schemas.openxmlformats.org/officeDocument/2006/relationships/slideLayout" Target="/ppt/slideLayouts/slideLayout2.xml" Id="R0dc6a7d8468b4825" /><Relationship Type="http://schemas.openxmlformats.org/officeDocument/2006/relationships/slideLayout" Target="/ppt/slideLayouts/slideLayout3.xml" Id="Rd1c983c6f6cb4fc7" /><Relationship Type="http://schemas.openxmlformats.org/officeDocument/2006/relationships/slideLayout" Target="/ppt/slideLayouts/slideLayout4.xml" Id="R1559e55695a04c70" /><Relationship Type="http://schemas.openxmlformats.org/officeDocument/2006/relationships/slideLayout" Target="/ppt/slideLayouts/slideLayout5.xml" Id="R9c4c2681281447c3" /><Relationship Type="http://schemas.openxmlformats.org/officeDocument/2006/relationships/slideLayout" Target="/ppt/slideLayouts/slideLayout6.xml" Id="R2997e46b322446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7923645a304ea5"/>
    <p:sldLayoutId xmlns:r="http://schemas.openxmlformats.org/officeDocument/2006/relationships" id="2147483650" r:id="R0dc6a7d8468b4825"/>
    <p:sldLayoutId xmlns:r="http://schemas.openxmlformats.org/officeDocument/2006/relationships" id="2147483651" r:id="Rd1c983c6f6cb4fc7"/>
    <p:sldLayoutId xmlns:r="http://schemas.openxmlformats.org/officeDocument/2006/relationships" id="2147483652" r:id="R1559e55695a04c70"/>
    <p:sldLayoutId xmlns:r="http://schemas.openxmlformats.org/officeDocument/2006/relationships" id="2147483653" r:id="R9c4c2681281447c3"/>
    <p:sldLayoutId xmlns:r="http://schemas.openxmlformats.org/officeDocument/2006/relationships" id="2147483654" r:id="R2997e46b322446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e6d143f30b413d" /><Relationship Type="http://schemas.openxmlformats.org/officeDocument/2006/relationships/notesSlide" Target="/ppt/notesSlides/notesSlide1.xml" Id="R3a97f26adb2740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23daed22e84ebd" /><Relationship Type="http://schemas.openxmlformats.org/officeDocument/2006/relationships/notesSlide" Target="/ppt/notesSlides/notesSlide2.xml" Id="R180e3d4843104c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b0eb382a241d6" /><Relationship Type="http://schemas.openxmlformats.org/officeDocument/2006/relationships/notesSlide" Target="/ppt/notesSlides/notesSlide3.xml" Id="Rf3ff2c2de0a045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bd1adb53284138" /><Relationship Type="http://schemas.openxmlformats.org/officeDocument/2006/relationships/notesSlide" Target="/ppt/notesSlides/notesSlide4.xml" Id="Rfc6123b4e03f40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01bbfd32248b7" /><Relationship Type="http://schemas.openxmlformats.org/officeDocument/2006/relationships/notesSlide" Target="/ppt/notesSlides/notesSlide5.xml" Id="Ra03759df882742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deb16d95124ecc" /><Relationship Type="http://schemas.openxmlformats.org/officeDocument/2006/relationships/notesSlide" Target="/ppt/notesSlides/notesSlide6.xml" Id="Rf7eb3f93ff0b4a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3b0a44a5684c3c" /><Relationship Type="http://schemas.openxmlformats.org/officeDocument/2006/relationships/notesSlide" Target="/ppt/notesSlides/notesSlide7.xml" Id="R9346bd7363ca40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73620a3104dbf" /><Relationship Type="http://schemas.openxmlformats.org/officeDocument/2006/relationships/notesSlide" Target="/ppt/notesSlides/notesSlide8.xml" Id="Rd6fe12aa79194c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fbf5c0a62b496d" /><Relationship Type="http://schemas.openxmlformats.org/officeDocument/2006/relationships/notesSlide" Target="/ppt/notesSlides/notesSlide9.xml" Id="R9e9958f2a07445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a537dceadc484a" /><Relationship Type="http://schemas.openxmlformats.org/officeDocument/2006/relationships/notesSlide" Target="/ppt/notesSlides/notesSlide10.xml" Id="R17a4eb2517f44e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64514c1cc04a2a" /><Relationship Type="http://schemas.openxmlformats.org/officeDocument/2006/relationships/notesSlide" Target="/ppt/notesSlides/notesSlide11.xml" Id="R6628226b25cd4d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337137c10447fb" /><Relationship Type="http://schemas.openxmlformats.org/officeDocument/2006/relationships/notesSlide" Target="/ppt/notesSlides/notesSlide12.xml" Id="Rb56291ab27ea4e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d0802ab3a744e2" /><Relationship Type="http://schemas.openxmlformats.org/officeDocument/2006/relationships/notesSlide" Target="/ppt/notesSlides/notesSlide13.xml" Id="R65d0504e93f549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2a583a2ec4adf" /><Relationship Type="http://schemas.openxmlformats.org/officeDocument/2006/relationships/notesSlide" Target="/ppt/notesSlides/notesSlide14.xml" Id="Rcb15c9c1b2b249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d7f12d8df4798" /><Relationship Type="http://schemas.openxmlformats.org/officeDocument/2006/relationships/notesSlide" Target="/ppt/notesSlides/notesSlide15.xml" Id="R3d2a1d025c6f409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d638e60fb4a5a" /><Relationship Type="http://schemas.openxmlformats.org/officeDocument/2006/relationships/notesSlide" Target="/ppt/notesSlides/notesSlide16.xml" Id="Re39470439f1143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46f1b58550441c" /><Relationship Type="http://schemas.openxmlformats.org/officeDocument/2006/relationships/notesSlide" Target="/ppt/notesSlides/notesSlide17.xml" Id="Radb7d4d6939f49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333938f7244ef8" /><Relationship Type="http://schemas.openxmlformats.org/officeDocument/2006/relationships/notesSlide" Target="/ppt/notesSlides/notesSlide18.xml" Id="R6cf886b5420b48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4cbfa51424196" /><Relationship Type="http://schemas.openxmlformats.org/officeDocument/2006/relationships/notesSlide" Target="/ppt/notesSlides/notesSlide19.xml" Id="Rdd91314a1e0b4d1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b54bd9208f454e" /><Relationship Type="http://schemas.openxmlformats.org/officeDocument/2006/relationships/notesSlide" Target="/ppt/notesSlides/notesSlide20.xml" Id="Rc8c8e4eea93844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9d51a7ee67448c" /><Relationship Type="http://schemas.openxmlformats.org/officeDocument/2006/relationships/notesSlide" Target="/ppt/notesSlides/notesSlide21.xml" Id="R0c40e2461dc740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71f086789f477a" /><Relationship Type="http://schemas.openxmlformats.org/officeDocument/2006/relationships/notesSlide" Target="/ppt/notesSlides/notesSlide22.xml" Id="R3beb70c89df0478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3c6f1b81924683" /><Relationship Type="http://schemas.openxmlformats.org/officeDocument/2006/relationships/notesSlide" Target="/ppt/notesSlides/notesSlide23.xml" Id="R65b319ac3e374a6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40a5873294193" /><Relationship Type="http://schemas.openxmlformats.org/officeDocument/2006/relationships/notesSlide" Target="/ppt/notesSlides/notesSlide24.xml" Id="R7e9da4274b26426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293fcdd92a4841" /><Relationship Type="http://schemas.openxmlformats.org/officeDocument/2006/relationships/notesSlide" Target="/ppt/notesSlides/notesSlide25.xml" Id="Rd36f6e302c7046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878b233e93490d" /><Relationship Type="http://schemas.openxmlformats.org/officeDocument/2006/relationships/notesSlide" Target="/ppt/notesSlides/notesSlide26.xml" Id="R5ea83c21f9624a7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ee1a965b34edf" /><Relationship Type="http://schemas.openxmlformats.org/officeDocument/2006/relationships/notesSlide" Target="/ppt/notesSlides/notesSlide27.xml" Id="R16a66935a6904e2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3f46642b94d55" /><Relationship Type="http://schemas.openxmlformats.org/officeDocument/2006/relationships/notesSlide" Target="/ppt/notesSlides/notesSlide28.xml" Id="R9b6622bd328a47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ABC0B-D476-4131-B10D-84C5BE62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47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Machines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Learn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E0C86-D381-4CBD-B782-67D43401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EABD72"/>
                </a:solidFill>
                <a:latin typeface="DejaVu Sans"/>
                <a:ea typeface="DejaVu Sans"/>
                <a:cs typeface="DejaVu Sans"/>
              </a:rPr>
              <a:t>A practical introduction to AI and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CBDAD-6CB6-4DBB-8BB4-62E71703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Kwaw Ebenezer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Africa Digital Skills Conference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E2C70-13D0-46A6-B58B-12288BD9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9437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2E96E-47F9-4208-89CE-45088B9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My beginning: community nutrition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C9A62-A5A0-4326-A71F-72B2B5C0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Community Nutrition at UDS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Shama Health Center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Samartex Hospital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A1E63-C3C1-4C0A-8863-39D18563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Public health gave me practical questions about people, information and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AE867-08A2-49D2-96C0-CAAAF039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451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2A143-1CE3-4742-AD05-1A3B18BD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My work and learning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E2CEA-5D39-448A-B7EC-87A51696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Digital Marketing Specialist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Amplify Marketing Agency LLC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Virginia, USA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SEO, content and performance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023FC-9012-4A78-BB65-5FA5989B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MSc Computer Science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University of Ghana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Projects: HealthSignal, MalaGuide and BudgetIQ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63F8B-196F-4B5F-9C64-35DB5CEE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0665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3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1C2B6-2790-4DD7-B86C-58FE6B60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Our starting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8A032-F230-4463-B00C-17611012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rPr>
              <a:t>What does it mean for a machine to learn?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A24B1-BB63-4217-BB41-ED64C388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Post one example of a prediction you encounter in daily life.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79BC5-87BF-4D9C-B091-0B602F14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6500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20931-5EE2-457C-B9FD-4C6E3177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Our 90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1B428-60D7-45E7-894A-0D9690AC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Story and starting point: 10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AI concepts: 15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Training and prediction: 15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9C354-6B58-4550-8B03-DDBD69F6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Practical exercise: 20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Errors and responsibility: 15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Applications and questions: 15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6EBAC-8CCE-4CDA-8919-163AE78E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563120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B951F-9917-4A2C-850A-285B8EB6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AI and machine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936D7-F0C0-4F78-8B93-CC2EA14F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477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Artificial intelligence is the broad field.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Machine learning is an approach within AI that learns patterns from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97819-2719-40DB-9607-C8E947AE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rPr>
              <a:t>Some AI systems use explicit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6FAA3-81EC-4C77-BBAD-69789651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6739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3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5017B-1469-4046-BF68-8C316DB2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Generative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C94A0-90DD-42FF-A8DB-3A0EF14C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rPr>
              <a:t>A model produces content such as text, images or audio.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32E5B-70BF-4D73-A89C-B5E346EF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Learning approaches describe how a system learns.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Generative AI describes a kind of output.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BA2E0-818E-4D0A-A235-F415710E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493532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D7BB4-AFAF-4BC9-AB2A-7347F4C1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The shop enquiry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F875B-C4B2-47E3-B186-18DE956B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 clothing shop records enquiries and whether a purchase follows.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1C5F2-3428-4AFD-89FD-6523586A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Supervised learning uses examples with known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Feature: catalogue viewing time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Label: purchase within seven days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C07D6-3AA4-43A9-A517-C93EF30B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2367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3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68BD9-3C4B-4A76-A321-E293F9B2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Similar market stalls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A2F57-AE3D-4D52-8A18-FED08EC8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rPr>
              <a:t>Imagine grouping stalls by similarities without receiving category labels.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95214-51A0-460E-B8BA-F79878D0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Unsupervised learning finds patterns without target labels for the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572B3-05D0-44C3-A9C0-1FE3F998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412718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3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30349-6C8D-4A12-A65C-92DD856A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player learning a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9713E-465B-4B29-A5E3-A6F4104E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rPr>
              <a:t>An agent tries actions and receives rewards from an environment.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68727-F55B-48EB-8DB6-B8DA7EB4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Reinforcement learning seeks a strategy that improves cumulative reward.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187F5-AFA5-4713-BEC9-85320C76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14571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CAB6E-5DBC-4B71-8DF9-E0C7B55F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Categories and quantities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2F5B7-527F-463D-B348-F628B637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CLASSIFICATION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Predict a category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Purchase or no purchase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Spam or legitimate email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007BE-D631-4291-A52F-1647EA46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REGRESSION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Predict a numerical quantity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Delivery time in minutes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Weekly sales in cedis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12FEB-36EA-4894-98C7-2238B1BA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290603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9229A-30F4-4583-BFF3-50997679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The building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1501C-6317-46A1-8C93-84905A2A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FEATURE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An input used for prediction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LABEL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The outcome to predict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6FFB6-45E8-42C9-89F3-0B30A48F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TRAINING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Learning patterns from examples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INFERENCE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Applying the model to a new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5870C-515D-4485-BE5C-35F5A682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572036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87D66-4CC4-417F-BAE6-7D2CDC1E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The model development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CB98E-10D6-495C-9831-E347CD55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477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1. Define the outcome and prediction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2. Prepare relevant examples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3. Train the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4. Evaluate on unseen examples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5. Monitor performance in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DD57E-641D-4BEB-9DAF-01138203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rPr>
              <a:t>A clear question comes before a complex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6250F-DD46-4A72-8449-E5FC5CF5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110695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5A666-FE0C-470D-8580-8D00F10B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Training validation and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5E74A-C90E-423E-9CCC-8E37F1A7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477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Training data helps the model learn.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Validation data helps choose settings.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Test data supports final evaluation.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3A2B3-EB15-4653-876B-61D28E4A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rPr>
              <a:t>Keep the final test independent of model selection.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11887-95AA-422C-98D8-8F4F5C91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241180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41B41-D800-4941-9A6D-735F8B8F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Two ways evaluation can mislead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F96C7-EC36-470D-8C7D-3CC35713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OVERFITTING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Strong training results can hide weak performance on new examples.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10B5E-61CD-4A3D-BB62-2DF090EC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DATA LEAKAGE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Information enters development that would not appropriately be available for prediction.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F184E-5924-41E1-B056-14F06253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654125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3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7D8E4-68C1-492A-A9D4-7B112BB7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Your practical exercise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9AD4B-E58F-4962-9A0B-0E06D927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rPr>
              <a:t>A fictional shop in Agona Swedru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D2291-864B-4D01-84A9-E84105C1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Will an enquiry lead to a purchase within seven days?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the demonstration section of your handout.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7EDB8-31CB-45F9-97FA-AF03DA93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168836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B2C30-76F3-4409-8CD8-AB103A92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Learning a simple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A1266-D235-45CA-942B-F0153F7A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NO PURCHASE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A: 1 minute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B: 2 minutes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C: 3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10378-EB79-4825-82F1-CECBE44F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PURCHASE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D: 6 minutes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E: 7 minutes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F: 8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77446-9A4D-431C-B1DF-147400CE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532233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B1E95-0648-4AE7-82FE-A867772C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Our learned threshold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AB1F7-5243-48B1-8F92-15E5EFC5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477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Above 4.5 minutes: predict purchase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At or below 4.5 minutes: predict no purchase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E4FDC-B0E2-4CD7-AE0B-928F1AC6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rPr>
              <a:t>The threshold fits these six training examples.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3469D-0EE5-41A6-AD7E-5A568DF2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972327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824EF-ABF2-4FD7-9CCE-4B6539F5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Predictions on new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B1726-4FAD-45CD-96C3-C243ACC3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G: 2 minutes, actual 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H: 5 minutes, actual 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226C8-1984-4855-A24D-7D765A7F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I: 7 minutes, actual Yes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J: 4 minutes, actual Yes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CF9D9-9074-4C98-814A-C4B8C8E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782548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3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3311B-82B9-4174-98D6-63843D44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Our 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2AF63-8B31-49C0-B068-58764695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rPr>
              <a:t>2 correct predictions out of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rPr>
              <a:t>Accuracy: 50 percent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B8022-716A-4AA4-97E4-E4595353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 is a false positive.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 is a false negative.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Always predicting No also scores 50 percent here.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4DEA6-03E4-4C7F-A648-67E7585D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214585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0A4F9-1D63-410B-9FD0-CB0C395E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Accuracy does not tell the whole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D0103-B009-48C2-98EE-E4174B52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100 fictional enquiries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10 actual purchases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Always predict No: 90 percent accuracy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8638F-77DF-4E86-B858-8C4F6CD9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The model finds none of the purchases.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Precision: how many predicted positives are correct?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Recall: how many actual positives are found?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702C1-CC47-4DC1-8CCB-BF9A8863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4095218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EE585-7446-4914-9E8A-F72F88B3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Data quality and bias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9A864-EB28-499E-95FA-92FC2350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477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Missing records and incorrect labels can distort learning.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Underrepresented groups may experience different errors.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1D4DF-13A6-45A8-8BFA-98541410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rPr>
              <a:t>A dataset from urban online shoppers may not transfer well to rural customers.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1B6DE-B382-4EC5-804D-B3630725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106616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58E7A-81D1-4724-9653-4907B8C7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Privacy and human oversight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EFCB8-2C9B-4621-A663-90E83F80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477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Use fictional data for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Keep confidential records out of unapproved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Follow organizational data handling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Assign people to review consequential outputs.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21D00-7C5B-4892-9D79-45CB71C7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rPr>
              <a:t>A fluent answer or model score needs appropriate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FCD5B-D7C1-450B-A3CB-D05A5CB7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434951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C6F85-EF5C-42B8-8E4B-5ACB9D89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My review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1D045-5BEC-475E-8499-5614F7F5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477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What does the model predict?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Which data taught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How does it perform on new examples?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Who experiences the errors?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Who reviews the result?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5A490-91B9-4C75-8F84-CD6EA1D7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rPr>
              <a:t>These questions apply beyond the classroom.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02891-A8FC-4975-9E22-2CCBC81B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012513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C8ECF-F936-465C-9CF0-89C6B6D6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Applications in our own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42A54-4415-4DF4-B03D-841591EF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MARKETING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Understanding enquiries and forecasting demand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PUBLIC HEALTH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Exploring outreach attendance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C8FE6-EAF5-48C3-B2E4-A116C55B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SOFTWARE PROJECTS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Identifying a task that might benefit from prediction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EVERYDAY SERVICES</a:t>
            </a:r>
          </a:p>
          <a:p xmlns:a="http://schemas.openxmlformats.org/drawingml/2006/main">
            <a:pPr>
              <a:def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Spam filtering and recommendations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29870-E3C8-4C3D-832F-2B7853F7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6034640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49CD0-0DAB-4BCA-98A5-849D04F6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Your idea worksheet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3C153-66DF-42C5-9D3B-4FC86ADD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477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The problem I want to understand…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The output I need…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The data and permissions required…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An error that would matter…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A simple baseline to compare…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FD836-DBCC-447B-AC6B-E656B1A1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rPr>
              <a:t>Complete one idea in your handout.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08184-50DB-45A3-8755-E882F013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826845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03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1C527-CF26-4F50-9DFC-79E16E82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Questions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6FDC4-71E4-4028-83BD-BC57E83B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EABD72"/>
                </a:solidFill>
                <a:latin typeface="DejaVu Sans"/>
                <a:ea typeface="DejaVu Sans"/>
                <a:cs typeface="DejaVu Sans"/>
              </a:rPr>
              <a:t>What will you explore next?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B2AA9-D5EA-410F-8616-CB159AE7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Kwaw Ebenezer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ekwaw4545@gmail.com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github.com/kwaw-ebn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7882C-42DB-4CF0-B646-4AA375B9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0C8CC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426244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42471-0A37-4C32-8414-26C0C5C2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Further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D5DBE-1040-4AC0-8FF3-E7351435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477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Google: Introduction to Machine Learning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Google: Machine Learning Crash Course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73C47"/>
                </a:solidFill>
                <a:latin typeface="DejaVu Sans"/>
                <a:ea typeface="DejaVu Sans"/>
                <a:cs typeface="DejaVu Sans"/>
              </a:rPr>
              <a:t>scikit-learn: Common pitfalls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8B7F7-069D-4982-A1DD-0AE66B49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76425"/>
                </a:solidFill>
                <a:latin typeface="DejaVu Sans"/>
                <a:ea typeface="DejaVu Sans"/>
                <a:cs typeface="DejaVu Sans"/>
              </a:rPr>
              <a:t>Links and reading list are in the participant handout.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2F84A-8480-4DF0-BEEB-E43D4B87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E7E80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36474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2026-10-19T21:03:46.6710000Z</dcterms:created>
  <dcterms:modified xsi:type="dcterms:W3CDTF">2026-10-19T21:03:46.6710000Z</dcterms:modified>
</coreProperties>
</file>